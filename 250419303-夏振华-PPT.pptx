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本次的Office办公软件入门教程。无论你是刚踏入职场的新人，还是希望提升办公技能的小伙伴，这份教程都将帮助你轻松掌握Word、Excel和PowerPoint这三大核心办公软件的使用技巧。让我们一起开启高效办公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本次教程将分为三个部分。首先，我们将学习Word，掌握文档的编辑与排版；接着，我们会进入Excel的世界，学习数据的处理与分析；最后，我们将一起探索PowerPoint，学习如何制作出精彩的演示文稿。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认识一下Word。Word是我们日常办公中最常用的文字处理工具。它不仅仅是一个打字软件，更是一个强大的文档创作平台。通过它，我们可以轻松地创建各种专业文档。大家可以看到右边的界面，这就是Word的工作环境，熟悉这些区域将帮助我们更高效地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使用Word时，我们首先需要掌握一些基本操作。比如，如何新建一个文档，如何保存我们的工作成果，以及如何打开和关闭文档。特别提醒大家，一定要记住Ctrl+S这个保存快捷键，它能帮你避免很多不必要的麻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接下来是文本编辑的核心技巧。学会如何快速选择文本，以及熟练使用复制、剪切、粘贴这三个命令，是提高效率的关键。同时，善用撤销、重做和查找替换功能，可以让你的编辑工作更加得心应手。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份专业的文档，离不开美观的格式。在Word中，“开始”选项卡是我们进行格式设置的主要阵地。在这里，我们可以调整字体、字号、颜色，以及设置段落的对齐方式和行距，让我们的文档看起来更加整洁、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纯文字的文档有时会显得单调。Word的图文混排功能可以让我们的文档“活”起来。我们可以插入图片、形状，并调整它们的位置和环绕方式，创造出丰富多样的版面效果。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学习Excel，这是一个处理数据的强大工具。如果你需要和数字打交道，那么Excel将是你的得力助手。它可以帮助我们快速、准确地完成各种数据计算和分析工作。右边是Excel的工作界面，让我们先来熟悉一下它的基本构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使用Excel的第一步是输入数据。我们可以在单元格中输入文字、数字或日期。Excel会自动识别数据类型并进行相应的格式化。如果发现输入错误，随时可以双击单元格进行修改。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Excel最强大的功能之一就是计算。通过公式和函数，我们可以让Excel自动完成各种复杂的运算。比如，用SUM函数计算总和，用AVERAGE函数计算平均值。记住，所有公式都要以等号开头。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当数据量很大时，如何快速找到我们需要的信息呢？排序和筛选功能可以帮你解决这个问题。排序可以让数据按规律排列，而筛选则可以像一个漏斗，只显示你关心的数据。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数据不仅仅是数字，通过图表，我们可以让数据说话。Excel提供了强大的图表功能，只需几步，就能将复杂的数据转化为清晰、美观的图表，让你的数据分析报告更具说服力。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最后，我们来学习PowerPoint，这是制作演示文稿的神器。无论是工作汇报还是客户提案，一份精彩的PPT都能让你的表达事半功倍。让我们先来了解一下PowerPoint的工作界面。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制作PPT的第一步是创建和管理幻灯片。我们可以根据需要新建幻灯片，并为每张幻灯片选择合适的版式。在左侧的缩略图窗格中，我们可以方便地对幻灯片进行排序和组织。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幻灯片的核心是内容。我们可以在占位符中输入文字，也可以插入图片来辅助表达。调整好文字和图片的位置与大小，是制作出美观幻灯片的基础。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好的内容还需要好的设计来包装。PowerPoint提供了强大的设计功能。通过应用主题，我们可以快速统一PPT的风格。而母版功能则能帮助我们批量修改所有幻灯片的共同元素，让你的PPT制作过程更加高效。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适当的动画可以为你的演示增添魅力。你可以为页面上的元素添加进入、退出等动画，也可以设置幻灯片之间的切换效果。最后，按F5键，就可以开始你的精彩演讲了。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在使用Office的过程中，掌握一些小技巧可以大大提高我们的工作效率。比如，在Word中用格式刷复制格式，在Excel中用Ctrl+E快速填充数据，在PowerPoint中用Ctrl+D快速复制对象。希望这些小技巧能对你有所帮助。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到这里，我们对Word、Excel和PowerPoint的核心功能已经有了一个全面的了解。简单回顾一下：Word重点是编辑和排版，Excel重点是计算和分析，而PowerPoint重点是组织和展示。希望大家课后能多动手实践，熟能生巧。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非常感谢大家的观看！如果大家在学习过程中有任何疑问，欢迎随时提出。希望这次的教程能对大家有所帮助，祝愿大家都能成为Office高手！谢谢！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jpe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jpe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0.jpe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0.jpe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jpe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2.jpe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jpe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jpe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jpe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68.jpe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8.jpe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75.jpe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80.jpe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87.jpe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notesSlides/notesSlide20.xml" Type="http://schemas.openxmlformats.org/officeDocument/2006/relationships/notesSlide"/><Relationship Id="rId8" Target="../media/image9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Office 办公软件入门教程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04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D7E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轻松上手 Word, Excel, PowerPoint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5715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Your Company Logo / 公司名称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7" flipH="false" flipV="false">
            <a:off x="762004" y="13906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095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879600" y="20320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01 Word：文档编辑与排版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79600" y="2438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掌握高效的文档创建、格式设置与审阅技巧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3492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879600" y="34290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02 Excel：数据处理与分析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879600" y="3835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从数据录入到可视化，解锁数据分析能力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879600" y="48260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03 PowerPoint：演示文稿制作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79600" y="5232400"/>
            <a:ext cx="762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设计精美幻灯片，打造引人入胜的演示效果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 Word：文档编辑与排版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什么是Word？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098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Word是一款功能强大的文字处理软件，是Office套件的核心组件之一。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073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073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主要用途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5052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创建、编辑和格式化工作报告、简历、信件、论文等各类文档。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3688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3688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认识界面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8006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由功能区、快速访问工具栏、文档区域和状态栏等部分组成。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477000" y="1778000"/>
            <a:ext cx="5080000" cy="2857500"/>
          </a:xfrm>
          <a:prstGeom prst="roundRect">
            <a:avLst>
              <a:gd name="adj" fmla="val 355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4826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Word 2016 界面示例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文档基本操作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14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14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新建文档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095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创建空白文档，或根据模板快速创建简历、报告等。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857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857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保存文档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238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随时保存，防止数据丢失，支持多种格式。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000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000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打开与关闭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381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查看和编辑已有文档，完成后退出。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594" flipH="false" flipV="false">
            <a:off x="762008" y="507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334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43000" y="5334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Ctrl+N: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新建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429000" y="53340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3810000" y="5334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Ctrl+S: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保存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7785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143000" y="57785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Ctrl+O: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打开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429000" y="5778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3810000" y="57785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Ctrl+W: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关闭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89889" flipH="false" flipV="false">
            <a:off x="3937000" y="38671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477000" y="1968500"/>
            <a:ext cx="5080000" cy="28575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24" id="24"/>
          <p:cNvSpPr/>
          <p:nvPr/>
        </p:nvSpPr>
        <p:spPr>
          <a:xfrm rot="0" flipH="false" flipV="false">
            <a:off x="6477000" y="4953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“文件”选项卡界面示例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文本编辑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803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输入与选择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在文档区域单击即可开始输入。通过单击、双击或拖动鼠标，可以精确地选择需要编辑的文本。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8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0099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复制、剪切、粘贴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365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选中文本后，使用快捷键或右键菜单执行复制、剪切、粘贴，是文本编辑中最常用的操作。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191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216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撤销与重做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572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操作失误时，使用“撤销”命令回到上一步；撤销错误时，可使用“重做”命令恢复。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397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4229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查找与替换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778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在长文档中修改词语或句子时，此功能可大幅提高效率。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889" flipH="false" flipV="false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11" r="11" t="0" b="0"/>
          <a:stretch>
            <a:fillRect/>
          </a:stretch>
        </p:blipFill>
        <p:spPr>
          <a:xfrm rot="0" flipH="false" flipV="false">
            <a:off x="6477000" y="2286000"/>
            <a:ext cx="5080000" cy="1892300"/>
          </a:xfrm>
          <a:prstGeom prst="roundRect">
            <a:avLst>
              <a:gd name="adj" fmla="val 5369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43815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文本选择与浮动工具栏演示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格式设置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19200" y="1778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字体格式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9200" y="22606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通过“开始”选项卡，设置文本的字体、大小、颜色，并为文本添加加粗、倾斜、下划线等效果，突出重点。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3429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段落格式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19200" y="39116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合理的段落格式能提升文档可读性，可设置对齐方式、行距和缩进，使文档结构更清晰。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5676" flipH="false" flipV="false">
            <a:off x="4572000" y="3295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477000" y="1778000"/>
            <a:ext cx="5080000" cy="2857500"/>
          </a:xfrm>
          <a:prstGeom prst="roundRect">
            <a:avLst>
              <a:gd name="adj" fmla="val 3555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47625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“开始”选项卡 - 字体与段落设置区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975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575300"/>
            <a:ext cx="203200" cy="203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70000" y="5537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一份专业的文档，离不开美观的格式，让我们的表达更清晰、更有力。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图文混排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插入本地或在线图片，让文档更加生动形象。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921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调整图片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302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方便地调整图片的大小和位置，以适应文档布局。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064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064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环绕文字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44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设置图片环绕方式，实现图文和谐共存。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20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207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插入形状和SmartArt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588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制作流程图、组织结构图等专业图形。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582" flipH="false" flipV="false">
            <a:off x="40005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62" r="62" t="0" b="0"/>
          <a:stretch>
            <a:fillRect/>
          </a:stretch>
        </p:blipFill>
        <p:spPr>
          <a:xfrm rot="0" flipH="false" flipV="false">
            <a:off x="6350000" y="2032000"/>
            <a:ext cx="5080000" cy="3238500"/>
          </a:xfrm>
          <a:prstGeom prst="roundRect">
            <a:avLst>
              <a:gd name="adj" fmla="val 3137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5397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Word 2016 图文混排效果展示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 Excel：数据处理与分析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19200" y="177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什么是Excel？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9200" y="21844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一款强大的电子表格软件，用于数据的存储、计算、分析和可视化。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098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30988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主要用途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19200" y="35052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制作销售报表、财务预算、考勤表、数据分析报告等。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41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19200" y="44196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认识界面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19200" y="48260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包含工作簿、工作表、单元格、行号、列标等基本元素。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30" r="30" t="0" b="0"/>
          <a:stretch>
            <a:fillRect/>
          </a:stretch>
        </p:blipFill>
        <p:spPr>
          <a:xfrm rot="0" flipH="false" flipV="false">
            <a:off x="6350000" y="1778000"/>
            <a:ext cx="5080000" cy="4064000"/>
          </a:xfrm>
          <a:prstGeom prst="roundRect">
            <a:avLst>
              <a:gd name="adj" fmla="val 2500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数据输入与编辑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选中单元格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通过单击选中单个单元格，或拖动鼠标选择一个单元格区域。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921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输入数据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302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直接输入文本、数字或日期，Excel会自动识别并格式化。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064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064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编辑数据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44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双击单元格或在编辑栏中修改已有内容。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20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207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复制与粘贴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588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支持标准的复制、剪切和粘贴操作，提升数据录入效率。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582" flipH="false" flipV="false">
            <a:off x="40005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12" r="12" t="0" b="0"/>
          <a:stretch>
            <a:fillRect/>
          </a:stretch>
        </p:blipFill>
        <p:spPr>
          <a:xfrm rot="0" flipH="false" flipV="false">
            <a:off x="6350000" y="1778000"/>
            <a:ext cx="5080000" cy="37592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5664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Excel 数据输入操作演示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公式与函数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14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19200" y="1727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公式的概念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9200" y="2095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公式是Excel中进行计算的核心，所有公式都必须以等号“=”开头。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857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28702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常用函数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33655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25600" y="33528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SUM：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计算一组数据的总和。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38735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625600" y="38608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AVERAGE：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计算一组数据的平均值。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43815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25600" y="43688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MAX：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找出一组数据中的最大值。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70000" y="48895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25600" y="4876800"/>
            <a:ext cx="444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MIN：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找出一组数据中的最小值。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19200" y="5397500"/>
            <a:ext cx="5080000" cy="508000"/>
          </a:xfrm>
          <a:prstGeom prst="roundRect">
            <a:avLst>
              <a:gd name="adj" fmla="val 20000"/>
            </a:avLst>
          </a:prstGeom>
          <a:solidFill>
            <a:srgbClr val="E9EC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示例：=SUM(A1:A5)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9582" flipH="false" flipV="false">
            <a:off x="4000500" y="38036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rcRect l="17996" r="17996" t="0" b="0"/>
          <a:stretch>
            <a:fillRect/>
          </a:stretch>
        </p:blipFill>
        <p:spPr>
          <a:xfrm rot="0" flipH="false" flipV="false">
            <a:off x="6350000" y="1968500"/>
            <a:ext cx="5080000" cy="3187700"/>
          </a:xfrm>
          <a:prstGeom prst="roundRect">
            <a:avLst>
              <a:gd name="adj" fmla="val 3187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6350000" y="5334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SUM函数应用示例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数据排序与筛选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19200" y="1778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数据排序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9200" y="22225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当我们有大量数据时，可以通过排序功能来按升序或降序重新排列数据，以便更好地查看和分析。我们可以按单个条件排序，也可以按多个条件进行复杂排序。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3429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数据筛选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19200" y="3873500"/>
            <a:ext cx="4826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筛选功能可以帮助我们快速从大量数据中找出符合特定条件的数据。Excel提供了自动筛选和高级筛选两种方式。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5053" flipH="false" flipV="false">
            <a:off x="4635500" y="3232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3" r="3" t="0" b="0"/>
          <a:stretch>
            <a:fillRect/>
          </a:stretch>
        </p:blipFill>
        <p:spPr>
          <a:xfrm rot="0" flipH="false" flipV="false">
            <a:off x="6477000" y="1778000"/>
            <a:ext cx="4953000" cy="42164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0078D4">
              <a:alpha val="5000"/>
            </a:srgbClr>
          </a:solidFill>
          <a:ln w="12700" cmpd="sng" cap="flat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4864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4864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排序让数据有序，筛选让信息聚焦，是数据处理的基础与核心。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图表制作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为什么使用图表？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将枯燥数据直观呈现，便于发现趋势规律，让观众更容易理解和接受。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098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0988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47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选中数据区域，在“插入”选项卡中选择推荐图表或指定类型，如柱状图、折线图。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41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419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完善图表元素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800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添加标题、坐标轴、图例和数据标签等，使图表信息更完整、清晰。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188" b="188"/>
          <a:stretch>
            <a:fillRect/>
          </a:stretch>
        </p:blipFill>
        <p:spPr>
          <a:xfrm rot="0" flipH="false" flipV="false">
            <a:off x="6477000" y="2032000"/>
            <a:ext cx="5080000" cy="23749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4572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Excel 2016 柱状图效果展示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 PowerPoint：演示文稿制作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19200" y="177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什么是PowerPoint？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19200" y="220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PowerPoint是一款专门用于制作和演示幻灯片的软件。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073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19200" y="307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主要用途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19200" y="35052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广泛应用于工作汇报、产品介绍、学术演讲、培训教育等场合。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3688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19200" y="43688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认识界面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19200" y="4800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核心区域包括幻灯片窗格、大纲窗格和备注窗格。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120" r="120" t="0" b="0"/>
          <a:stretch>
            <a:fillRect/>
          </a:stretch>
        </p:blipFill>
        <p:spPr>
          <a:xfrm rot="0" flipH="false" flipV="false">
            <a:off x="6477000" y="1778000"/>
            <a:ext cx="5080000" cy="3048000"/>
          </a:xfrm>
          <a:prstGeom prst="roundRect">
            <a:avLst>
              <a:gd name="adj" fmla="val 3333"/>
            </a:avLst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4953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 2016 界面截图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幻灯片基本操作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2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新建演示文稿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从空白开始或利用模板快速创建演示文稿。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92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新建幻灯片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30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通过“开始”选项卡或右键菜单添加新幻灯片。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064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06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选择版式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445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为每张幻灯片设置不同版式，优化内容展示。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20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5207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管理幻灯片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70000" y="558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在缩略图窗格中进行复制、移动和删除操作。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9582" flipH="false" flipV="false">
            <a:off x="4000500" y="3867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5164" r="5164" t="0" b="0"/>
          <a:stretch>
            <a:fillRect/>
          </a:stretch>
        </p:blipFill>
        <p:spPr>
          <a:xfrm rot="0" flipH="false" flipV="false">
            <a:off x="6477000" y="2032000"/>
            <a:ext cx="5080000" cy="33909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5588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 新建幻灯片界面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文本与图片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20800" y="180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添加文本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20800" y="220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在占位符中直接输入，或插入文本框自由放置。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149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20800" y="317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插入图片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20800" y="3581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支持插入本地或在线图片，丰富视觉表达。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5212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20800" y="4546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调整对象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20800" y="4953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拖动调整位置，拖动控制点调整大小和比例。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78" b="78"/>
          <a:stretch>
            <a:fillRect/>
          </a:stretch>
        </p:blipFill>
        <p:spPr>
          <a:xfrm rot="0" flipH="false" flipV="false">
            <a:off x="6477000" y="1778000"/>
            <a:ext cx="4953000" cy="3225800"/>
          </a:xfrm>
          <a:prstGeom prst="roundRect">
            <a:avLst>
              <a:gd name="adj" fmla="val 314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254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5207000"/>
            <a:ext cx="495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文本与图片组合效果示例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设计与美化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89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20800" y="1803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应用主题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20800" y="22098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一键应用预设风格，快速统一演示文稿的颜色、字体和效果，提升专业感。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149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20800" y="3175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更改背景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20800" y="35814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为幻灯片设置纯色、渐变或图片背景，增强视觉吸引力，突出内容重点。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5212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20800" y="45466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使用母版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20800" y="4953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统一设置页眉、页脚、Logo等全局元素，批量修改，极大提高制作效率。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540" flipH="false" flipV="false">
            <a:off x="4318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635" b="635"/>
          <a:stretch>
            <a:fillRect/>
          </a:stretch>
        </p:blipFill>
        <p:spPr>
          <a:xfrm rot="0" flipH="false" flipV="false">
            <a:off x="6604000" y="1778000"/>
            <a:ext cx="4826000" cy="32766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604000" y="5207000"/>
            <a:ext cx="482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 设计选项卡界面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动画与放映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14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177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添加动画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1590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为文本、图片等对象添加动画，让演示更生动，有效引导观众注意力。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098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30988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设置切换效果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4798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定义幻灯片之间的过渡动画，使演示流程更加流畅自然。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419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4196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开始放映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70000" y="4800600"/>
            <a:ext cx="457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按F5从首页开始，Shift+F5从当前页开始，开启你的演示。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8145" flipH="false" flipV="false">
            <a:off x="4254500" y="3613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rcRect l="0" r="0" t="83" b="83"/>
          <a:stretch>
            <a:fillRect/>
          </a:stretch>
        </p:blipFill>
        <p:spPr>
          <a:xfrm rot="0" flipH="false" flipV="false">
            <a:off x="6477000" y="1778000"/>
            <a:ext cx="5080000" cy="4102100"/>
          </a:xfrm>
          <a:prstGeom prst="rect">
            <a:avLst/>
          </a:prstGeom>
          <a:noFill/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dir="2700000" dist="63500" blurRad="254000" algn="tl" rotWithShape="false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实用小技巧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57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203200" cy="203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20800" y="26670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20800" y="29972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双击格式刷可连续复制格式到其他文本。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7592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20800" y="3759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Ctrl+Enter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20800" y="4089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在光标位置快速插入分页符。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07000" y="2057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Excel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667000"/>
            <a:ext cx="203200" cy="203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03800" y="26670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Ctrl+E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03800" y="29972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智能识别规律，快速填充数据。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37592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003800" y="3759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冻结窗格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03800" y="4089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使标题行或列在滚动时始终可见。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0" y="20574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2667000"/>
            <a:ext cx="203200" cy="203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686800" y="26670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Ctrl+D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686800" y="29972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快速复制选中的对象。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3759200"/>
            <a:ext cx="203200" cy="203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686800" y="37592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放映控制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86800" y="40894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B/W键黑屏/白屏，Esc退出放映。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588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掌握这些小技巧，让你的Office操作更高效！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80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总结回顾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89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6764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4638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Word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95600"/>
            <a:ext cx="279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核心在于内容编辑和格式美化，创建专业文档。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764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304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4638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Excel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895600"/>
            <a:ext cx="279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核心在于计算分析和可视化，从数据中提取价值。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764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82000" y="24638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PowerPoint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895600"/>
            <a:ext cx="279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核心在于结构化组织和生动展示，清晰传递信息。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434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0078D4">
              <a:alpha val="5000"/>
            </a:srgbClr>
          </a:solidFill>
          <a:ln w="12700" cmpd="sng" cap="flat">
            <a:solidFill>
              <a:srgbClr val="0078D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699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6990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实践是关键：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办公软件的学习没有捷径，多动手、多练习，才能真正将知识转化为技能。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875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032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041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8D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286000" y="3429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/ 联系方式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556000" y="431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064000" y="4318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your.email@example.com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48768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064000" y="48768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+86 123 4567 8901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